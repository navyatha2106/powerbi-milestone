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6" r:id="rId6"/>
    <p:sldId id="287" r:id="rId7"/>
    <p:sldId id="288" r:id="rId8"/>
    <p:sldId id="289" r:id="rId9"/>
    <p:sldId id="291" r:id="rId10"/>
    <p:sldId id="292" r:id="rId11"/>
    <p:sldId id="293" r:id="rId12"/>
    <p:sldId id="294" r:id="rId13"/>
    <p:sldId id="295" r:id="rId14"/>
    <p:sldId id="29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2/16/2026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7" y="1380227"/>
            <a:ext cx="8935931" cy="2880187"/>
          </a:xfrm>
        </p:spPr>
        <p:txBody>
          <a:bodyPr/>
          <a:lstStyle/>
          <a:p>
            <a:br>
              <a:rPr lang="en-US" sz="5400" dirty="0"/>
            </a:br>
            <a:r>
              <a:rPr lang="en-US" sz="5400" dirty="0"/>
              <a:t>Global Economic And Demographic Trends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6680" y="5067329"/>
            <a:ext cx="2914693" cy="86868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Presented By:</a:t>
            </a:r>
          </a:p>
          <a:p>
            <a:pPr marL="0" indent="0">
              <a:buNone/>
            </a:pPr>
            <a:r>
              <a:rPr lang="en-US" dirty="0"/>
              <a:t>         NAVYATHASRI R</a:t>
            </a:r>
          </a:p>
          <a:p>
            <a:pPr marL="0" indent="0">
              <a:buNone/>
            </a:pPr>
            <a:r>
              <a:rPr lang="en-US" dirty="0"/>
              <a:t>         DADS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77E34-008B-39F1-232F-B698FFB1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Project Objectives :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AFD1C2-0FEA-817F-C1C8-0AECE4D06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8D2B7-999E-2498-0C99-6E7EB6753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Analyze global population, GDP, literacy, and health indicators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Identify country-wise and region-wise trends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Perform descriptive statistical analysis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Apply DAX for advanced calculations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Build an interactive power BI dashboard for insights</a:t>
            </a:r>
          </a:p>
        </p:txBody>
      </p:sp>
    </p:spTree>
    <p:extLst>
      <p:ext uri="{BB962C8B-B14F-4D97-AF65-F5344CB8AC3E}">
        <p14:creationId xmlns:p14="http://schemas.microsoft.com/office/powerpoint/2010/main" val="2685911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DAA48-936E-6C35-8F1B-9AB7B0E2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Project Overview :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C29DCA-08D5-59D3-6766-D695F510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DDD69-BC42-81C4-A696-A4651CAB4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Economic growth trends across countries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Population changes over time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Relationship between literacy levels and GDP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Country-wise comparative insights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The analysis helps identify how education and population influence economic development.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4330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9441E-5720-508A-AC7D-55288A64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Data Cleaning: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243FD-073B-DA96-C027-6B52A57B3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CDAB4-D30B-FA41-7D59-379E23189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Removing duplicate country codes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Handling missing and null values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Data type corrections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Unpivoting year columns into usable format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Standardizing country names and codes</a:t>
            </a:r>
          </a:p>
        </p:txBody>
      </p:sp>
    </p:spTree>
    <p:extLst>
      <p:ext uri="{BB962C8B-B14F-4D97-AF65-F5344CB8AC3E}">
        <p14:creationId xmlns:p14="http://schemas.microsoft.com/office/powerpoint/2010/main" val="4252148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FBBB-ADC5-5778-F98C-04ABA76A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DAX Calculations: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43FEE4-F45F-92B8-90F0-AB462F6B5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EAE0D-2127-C332-E45C-A0008F790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Key Measures Created Using DAX</a:t>
            </a: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Population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GDP per Capita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Literacy Rate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Infant Mortality Rate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Population Growth Trend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GDP Aggregation by Region</a:t>
            </a:r>
          </a:p>
        </p:txBody>
      </p:sp>
    </p:spTree>
    <p:extLst>
      <p:ext uri="{BB962C8B-B14F-4D97-AF65-F5344CB8AC3E}">
        <p14:creationId xmlns:p14="http://schemas.microsoft.com/office/powerpoint/2010/main" val="13007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D5B3-7B02-C7CF-5EB9-1A311F78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KPI’s and Slicers: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68C006-8976-29B6-FE43-35CA05D7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58F1A1-1207-42B5-658A-308D28E9A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Key KPIs (Top Cards)</a:t>
            </a: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Population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GDP per Capita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Average Infant Mortality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Total Population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/>
              <a:t>Interactive Features</a:t>
            </a:r>
            <a:endParaRPr lang="en-US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Year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Country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Region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01A088-B9E7-3E05-48F1-072665B2A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684" y="1825625"/>
            <a:ext cx="2067213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5DFB8E-0194-FB03-034F-0AD514845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303" y="1858967"/>
            <a:ext cx="1771897" cy="704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7BE610-EB98-E0DF-6BF5-5BFBDA5CAD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9149" y="3201083"/>
            <a:ext cx="1933845" cy="79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4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DB334-3D7D-B484-09E7-6AB1021CA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Population Density by Region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38C2E3-A60A-EFA9-D218-0BF8C324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FFD904-8C4A-91E1-7B97-032AA1C98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6" y="1825625"/>
            <a:ext cx="7625813" cy="4351338"/>
          </a:xfrm>
        </p:spPr>
        <p:txBody>
          <a:bodyPr>
            <a:normAutofit fontScale="62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South Asia and East Asia &amp; Pacific</a:t>
            </a:r>
            <a:r>
              <a:rPr lang="en-US" altLang="en-US" dirty="0">
                <a:latin typeface="Arial" panose="020B0604020202020204" pitchFamily="34" charset="0"/>
              </a:rPr>
              <a:t> have the </a:t>
            </a:r>
            <a:r>
              <a:rPr lang="en-US" altLang="en-US" b="1" dirty="0">
                <a:latin typeface="Arial" panose="020B0604020202020204" pitchFamily="34" charset="0"/>
              </a:rPr>
              <a:t>highest population concentration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Europe &amp; Central Asia</a:t>
            </a:r>
            <a:r>
              <a:rPr lang="en-US" altLang="en-US" dirty="0">
                <a:latin typeface="Arial" panose="020B0604020202020204" pitchFamily="34" charset="0"/>
              </a:rPr>
              <a:t> has </a:t>
            </a:r>
            <a:r>
              <a:rPr lang="en-US" altLang="en-US" b="1" dirty="0">
                <a:latin typeface="Arial" panose="020B0604020202020204" pitchFamily="34" charset="0"/>
              </a:rPr>
              <a:t>moderate population density</a:t>
            </a:r>
            <a:r>
              <a:rPr lang="en-US" altLang="en-US" dirty="0">
                <a:latin typeface="Arial" panose="020B0604020202020204" pitchFamily="34" charset="0"/>
              </a:rPr>
              <a:t> spread across many countries.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Sub-Saharan Africa</a:t>
            </a:r>
            <a:r>
              <a:rPr lang="en-US" altLang="en-US" dirty="0">
                <a:latin typeface="Arial" panose="020B0604020202020204" pitchFamily="34" charset="0"/>
              </a:rPr>
              <a:t> shows </a:t>
            </a:r>
            <a:r>
              <a:rPr lang="en-US" altLang="en-US" b="1" dirty="0">
                <a:latin typeface="Arial" panose="020B0604020202020204" pitchFamily="34" charset="0"/>
              </a:rPr>
              <a:t>uneven population distribution</a:t>
            </a:r>
            <a:r>
              <a:rPr lang="en-US" altLang="en-US" dirty="0">
                <a:latin typeface="Arial" panose="020B0604020202020204" pitchFamily="34" charset="0"/>
              </a:rPr>
              <a:t> across a wide area.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North America</a:t>
            </a:r>
            <a:r>
              <a:rPr lang="en-US" altLang="en-US" dirty="0">
                <a:latin typeface="Arial" panose="020B0604020202020204" pitchFamily="34" charset="0"/>
              </a:rPr>
              <a:t> has </a:t>
            </a:r>
            <a:r>
              <a:rPr lang="en-US" altLang="en-US" b="1" dirty="0">
                <a:latin typeface="Arial" panose="020B0604020202020204" pitchFamily="34" charset="0"/>
              </a:rPr>
              <a:t>low population density</a:t>
            </a:r>
            <a:r>
              <a:rPr lang="en-US" altLang="en-US" dirty="0">
                <a:latin typeface="Arial" panose="020B0604020202020204" pitchFamily="34" charset="0"/>
              </a:rPr>
              <a:t> despite its large land area.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Latin America &amp; Caribbean</a:t>
            </a:r>
            <a:r>
              <a:rPr lang="en-US" altLang="en-US" dirty="0">
                <a:latin typeface="Arial" panose="020B0604020202020204" pitchFamily="34" charset="0"/>
              </a:rPr>
              <a:t> has </a:t>
            </a:r>
            <a:r>
              <a:rPr lang="en-US" altLang="en-US" b="1" dirty="0">
                <a:latin typeface="Arial" panose="020B0604020202020204" pitchFamily="34" charset="0"/>
              </a:rPr>
              <a:t>moderate population density</a:t>
            </a:r>
            <a:r>
              <a:rPr lang="en-US" altLang="en-US" dirty="0">
                <a:latin typeface="Arial" panose="020B0604020202020204" pitchFamily="34" charset="0"/>
              </a:rPr>
              <a:t> in specific regions.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Middle East &amp; North Africa</a:t>
            </a:r>
            <a:r>
              <a:rPr lang="en-US" altLang="en-US" dirty="0">
                <a:latin typeface="Arial" panose="020B0604020202020204" pitchFamily="34" charset="0"/>
              </a:rPr>
              <a:t> has </a:t>
            </a:r>
            <a:r>
              <a:rPr lang="en-US" altLang="en-US" b="1" dirty="0">
                <a:latin typeface="Arial" panose="020B0604020202020204" pitchFamily="34" charset="0"/>
              </a:rPr>
              <a:t>population clusters in limited habitable areas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AE0506-301F-0E49-4092-01E089C8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911" y="1981201"/>
            <a:ext cx="3942998" cy="234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85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9292-9E22-CB5E-C6EC-9E653084C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IN" dirty="0"/>
              <a:t>GDP Contribution by Region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0A81A8-9C45-5E48-8757-0C89F7B6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4A6A8-C647-EE45-0851-CB145B26D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6" y="1825625"/>
            <a:ext cx="7385182" cy="4351338"/>
          </a:xfrm>
        </p:spPr>
        <p:txBody>
          <a:bodyPr>
            <a:normAutofit fontScale="62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North America and Europe &amp; Central Asia</a:t>
            </a:r>
            <a:r>
              <a:rPr lang="en-US" altLang="en-US" dirty="0">
                <a:latin typeface="Arial" panose="020B0604020202020204" pitchFamily="34" charset="0"/>
              </a:rPr>
              <a:t> contribute a </a:t>
            </a:r>
            <a:r>
              <a:rPr lang="en-US" altLang="en-US" b="1" dirty="0">
                <a:latin typeface="Arial" panose="020B0604020202020204" pitchFamily="34" charset="0"/>
              </a:rPr>
              <a:t>large share of global GDP</a:t>
            </a:r>
            <a:r>
              <a:rPr lang="en-US" altLang="en-US" dirty="0">
                <a:latin typeface="Arial" panose="020B0604020202020204" pitchFamily="34" charset="0"/>
              </a:rPr>
              <a:t> despite smaller populations.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East Asia &amp; Pacific</a:t>
            </a:r>
            <a:r>
              <a:rPr lang="en-US" altLang="en-US" dirty="0">
                <a:latin typeface="Arial" panose="020B0604020202020204" pitchFamily="34" charset="0"/>
              </a:rPr>
              <a:t> has a </a:t>
            </a:r>
            <a:r>
              <a:rPr lang="en-US" altLang="en-US" b="1" dirty="0">
                <a:latin typeface="Arial" panose="020B0604020202020204" pitchFamily="34" charset="0"/>
              </a:rPr>
              <a:t>strong GDP contribution</a:t>
            </a:r>
            <a:r>
              <a:rPr lang="en-US" altLang="en-US" dirty="0">
                <a:latin typeface="Arial" panose="020B0604020202020204" pitchFamily="34" charset="0"/>
              </a:rPr>
              <a:t> due to rapid industrial growth.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South Asia</a:t>
            </a:r>
            <a:r>
              <a:rPr lang="en-US" altLang="en-US" dirty="0">
                <a:latin typeface="Arial" panose="020B0604020202020204" pitchFamily="34" charset="0"/>
              </a:rPr>
              <a:t> has a </a:t>
            </a:r>
            <a:r>
              <a:rPr lang="en-US" altLang="en-US" b="1" dirty="0">
                <a:latin typeface="Arial" panose="020B0604020202020204" pitchFamily="34" charset="0"/>
              </a:rPr>
              <a:t>low GDP share compared to its large population</a:t>
            </a:r>
            <a:r>
              <a:rPr lang="en-US" altLang="en-US" dirty="0">
                <a:latin typeface="Arial" panose="020B0604020202020204" pitchFamily="34" charset="0"/>
              </a:rPr>
              <a:t>, showing lower GDP per capita.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Latin America &amp; Caribbean</a:t>
            </a:r>
            <a:r>
              <a:rPr lang="en-US" altLang="en-US" dirty="0">
                <a:latin typeface="Arial" panose="020B0604020202020204" pitchFamily="34" charset="0"/>
              </a:rPr>
              <a:t> contributes a </a:t>
            </a:r>
            <a:r>
              <a:rPr lang="en-US" altLang="en-US" b="1" dirty="0">
                <a:latin typeface="Arial" panose="020B0604020202020204" pitchFamily="34" charset="0"/>
              </a:rPr>
              <a:t>moderate share</a:t>
            </a:r>
            <a:r>
              <a:rPr lang="en-US" altLang="en-US" dirty="0">
                <a:latin typeface="Arial" panose="020B0604020202020204" pitchFamily="34" charset="0"/>
              </a:rPr>
              <a:t> of global GDP.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Middle East &amp; North Africa</a:t>
            </a:r>
            <a:r>
              <a:rPr lang="en-US" altLang="en-US" dirty="0">
                <a:latin typeface="Arial" panose="020B0604020202020204" pitchFamily="34" charset="0"/>
              </a:rPr>
              <a:t> GDP is mainly driven by </a:t>
            </a:r>
            <a:r>
              <a:rPr lang="en-US" altLang="en-US" b="1" dirty="0">
                <a:latin typeface="Arial" panose="020B0604020202020204" pitchFamily="34" charset="0"/>
              </a:rPr>
              <a:t>natural resources</a:t>
            </a:r>
            <a:r>
              <a:rPr lang="en-US" altLang="en-US" dirty="0"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Sub-Saharan Africa</a:t>
            </a:r>
            <a:r>
              <a:rPr lang="en-US" altLang="en-US" dirty="0">
                <a:latin typeface="Arial" panose="020B0604020202020204" pitchFamily="34" charset="0"/>
              </a:rPr>
              <a:t> has the </a:t>
            </a:r>
            <a:r>
              <a:rPr lang="en-US" altLang="en-US" b="1" dirty="0">
                <a:latin typeface="Arial" panose="020B0604020202020204" pitchFamily="34" charset="0"/>
              </a:rPr>
              <a:t>lowest GDP contribution</a:t>
            </a:r>
            <a:r>
              <a:rPr lang="en-US" altLang="en-US" dirty="0">
                <a:latin typeface="Arial" panose="020B0604020202020204" pitchFamily="34" charset="0"/>
              </a:rPr>
              <a:t>, indicating development challenges.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4C8BF7-DF98-6B41-A8CF-06C150104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23" y="2268984"/>
            <a:ext cx="3839111" cy="223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19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B1B3-2E8C-A751-90A1-85F0A19C2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GDP per Capita By Country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B485E-B5F8-F661-50AA-101CBCC5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52167-1178-7EB8-49EF-E4446D8E3F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6390572" cy="4351338"/>
          </a:xfrm>
        </p:spPr>
        <p:txBody>
          <a:bodyPr>
            <a:normAutofit fontScale="62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There is a </a:t>
            </a:r>
            <a:r>
              <a:rPr lang="en-US" altLang="en-US" b="1" dirty="0">
                <a:latin typeface="Arial" panose="020B0604020202020204" pitchFamily="34" charset="0"/>
              </a:rPr>
              <a:t>huge disparity in GDP per capita</a:t>
            </a:r>
            <a:r>
              <a:rPr lang="en-US" altLang="en-US" dirty="0">
                <a:latin typeface="Arial" panose="020B0604020202020204" pitchFamily="34" charset="0"/>
              </a:rPr>
              <a:t> across countries, showing strong global economic inequality.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>
                <a:latin typeface="Arial" panose="020B0604020202020204" pitchFamily="34" charset="0"/>
              </a:rPr>
              <a:t>U.S </a:t>
            </a:r>
            <a:r>
              <a:rPr lang="en-US" altLang="en-US" b="1" dirty="0">
                <a:latin typeface="Arial" panose="020B0604020202020204" pitchFamily="34" charset="0"/>
              </a:rPr>
              <a:t>ranks highest</a:t>
            </a:r>
            <a:r>
              <a:rPr lang="en-US" altLang="en-US" dirty="0">
                <a:latin typeface="Arial" panose="020B0604020202020204" pitchFamily="34" charset="0"/>
              </a:rPr>
              <a:t>, indicating very high income levels compared to other countries.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Zambia, Zimbabwe, and Yemen</a:t>
            </a:r>
            <a:r>
              <a:rPr lang="en-US" altLang="en-US" dirty="0">
                <a:latin typeface="Arial" panose="020B0604020202020204" pitchFamily="34" charset="0"/>
              </a:rPr>
              <a:t> fall at the lower end, reflecting weaker economic performance and lower living standards.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latin typeface="Arial" panose="020B0604020202020204" pitchFamily="34" charset="0"/>
              </a:rPr>
              <a:t>world average GDP per capita</a:t>
            </a:r>
            <a:r>
              <a:rPr lang="en-US" altLang="en-US" dirty="0">
                <a:latin typeface="Arial" panose="020B0604020202020204" pitchFamily="34" charset="0"/>
              </a:rPr>
              <a:t> is much lower than top economies, masking country-level differences.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GDP per capita is a </a:t>
            </a:r>
            <a:r>
              <a:rPr lang="en-US" altLang="en-US" b="1" dirty="0">
                <a:latin typeface="Arial" panose="020B0604020202020204" pitchFamily="34" charset="0"/>
              </a:rPr>
              <a:t>better measure of individual prosperity</a:t>
            </a:r>
            <a:r>
              <a:rPr lang="en-US" altLang="en-US" dirty="0">
                <a:latin typeface="Arial" panose="020B0604020202020204" pitchFamily="34" charset="0"/>
              </a:rPr>
              <a:t> than total GDP when comparing countries.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E36EEE-6EDE-2BC7-795C-22A6B548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3937" y="2458342"/>
            <a:ext cx="5058481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34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44DC6-938D-7B5C-2CEE-1496D993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dirty="0"/>
              <a:t>Population Trends Over Time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6BCC3-308B-E67D-2299-0CDB8A8D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FB637-C94F-330B-E378-A135D65EA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6968088" cy="4351338"/>
          </a:xfrm>
        </p:spPr>
        <p:txBody>
          <a:bodyPr>
            <a:normAutofit fontScale="62500" lnSpcReduction="20000"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The </a:t>
            </a:r>
            <a:r>
              <a:rPr lang="en-US" altLang="en-US" b="1" dirty="0">
                <a:latin typeface="Arial" panose="020B0604020202020204" pitchFamily="34" charset="0"/>
              </a:rPr>
              <a:t>global population shows a steady and continuous increase</a:t>
            </a:r>
            <a:r>
              <a:rPr lang="en-US" altLang="en-US" dirty="0">
                <a:latin typeface="Arial" panose="020B0604020202020204" pitchFamily="34" charset="0"/>
              </a:rPr>
              <a:t> from 1960 to around 2015, indicating sustained long-term growth.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Growth accelerates after the 1980s</a:t>
            </a:r>
            <a:r>
              <a:rPr lang="en-US" altLang="en-US" dirty="0">
                <a:latin typeface="Arial" panose="020B0604020202020204" pitchFamily="34" charset="0"/>
              </a:rPr>
              <a:t>, reflecting improvements in healthcare, sanitation, and living standards worldwide.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Asia-related regions contribute the largest share</a:t>
            </a:r>
            <a:r>
              <a:rPr lang="en-US" altLang="en-US" dirty="0">
                <a:latin typeface="Arial" panose="020B0604020202020204" pitchFamily="34" charset="0"/>
              </a:rPr>
              <a:t> to total population growth, dominating the overall trend.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Africa (Sub-Saharan Africa)</a:t>
            </a:r>
            <a:r>
              <a:rPr lang="en-US" altLang="en-US" dirty="0">
                <a:latin typeface="Arial" panose="020B0604020202020204" pitchFamily="34" charset="0"/>
              </a:rPr>
              <a:t> shows a noticeably faster growth rate in later years, highlighting rising demographic pressure.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Arial" panose="020B0604020202020204" pitchFamily="34" charset="0"/>
              </a:rPr>
              <a:t>Europe’s growth remains relatively slow</a:t>
            </a:r>
            <a:r>
              <a:rPr lang="en-US" altLang="en-US" dirty="0">
                <a:latin typeface="Arial" panose="020B0604020202020204" pitchFamily="34" charset="0"/>
              </a:rPr>
              <a:t>, suggesting aging populations and lower birth rates compared to other regions.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503143-96E3-2CC9-A36F-2C53C57D5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24" y="1825625"/>
            <a:ext cx="3839111" cy="215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7ACB76-13F5-0F47-C29A-0C881CF75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23AB0-6E09-3D66-AA2C-AA0236AA2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4603"/>
            <a:ext cx="11326091" cy="59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53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661</TotalTime>
  <Words>537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Trade Gothic LT Pro</vt:lpstr>
      <vt:lpstr>Trebuchet MS</vt:lpstr>
      <vt:lpstr>Wingdings</vt:lpstr>
      <vt:lpstr>Office Theme</vt:lpstr>
      <vt:lpstr> Global Economic And Demographic Trends Analysis</vt:lpstr>
      <vt:lpstr>Project Objectives :</vt:lpstr>
      <vt:lpstr>Project Overview :</vt:lpstr>
      <vt:lpstr>Data Cleaning:</vt:lpstr>
      <vt:lpstr>DAX Calculations:</vt:lpstr>
      <vt:lpstr>KPI’s and Slicers:</vt:lpstr>
      <vt:lpstr>Population Density by Region</vt:lpstr>
      <vt:lpstr>GDP Contribution by Region</vt:lpstr>
      <vt:lpstr>GDP per Capita By Country</vt:lpstr>
      <vt:lpstr>Population Trends Over Time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Sudheshna M</dc:creator>
  <cp:lastModifiedBy>Navyatha Sri</cp:lastModifiedBy>
  <cp:revision>5</cp:revision>
  <dcterms:created xsi:type="dcterms:W3CDTF">2025-12-29T10:50:13Z</dcterms:created>
  <dcterms:modified xsi:type="dcterms:W3CDTF">2026-02-16T13:14:05Z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